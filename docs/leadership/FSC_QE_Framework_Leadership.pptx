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0"/>
            <a:ext cx="12188952" cy="1828800"/>
          </a:xfrm>
          <a:prstGeom prst="rect">
            <a:avLst/>
          </a:prstGeom>
          <a:solidFill>
            <a:srgbClr val="1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98348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FSC Agentic QE Framework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6060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00B4D8"/>
                </a:solidFill>
                <a:latin typeface="Calibri"/>
              </a:rPr>
              <a:t>AI-Powered Quality Engineering for FCA-Regulated Salesforce Delivery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3375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CDDEE"/>
                </a:solidFill>
                <a:latin typeface="Calibri"/>
              </a:rPr>
              <a:t>53 Agents  ·  4 Phases  ·  12 Gates  ·  FCA-Aware  ·  Validated 53/53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2578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ABBCC"/>
                </a:solidFill>
                <a:latin typeface="Calibri"/>
              </a:rPr>
              <a:t>Senior Leadership Briefing  |  May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52578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E88C00"/>
                </a:solidFill>
                <a:latin typeface="Calibri"/>
              </a:rPr>
              <a:t>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4980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B4D8"/>
                </a:solidFill>
                <a:latin typeface="Calibri"/>
              </a:rPr>
              <a:t>Manual QE in regulated delivery is slow, inconsistent, and risky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463040"/>
            <a:ext cx="3657600" cy="4846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463040"/>
            <a:ext cx="3657600" cy="5029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50876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50876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FCA Obligations Are Missed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148840"/>
            <a:ext cx="333756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2A3A"/>
                </a:solidFill>
                <a:latin typeface="Calibri"/>
              </a:rPr>
              <a:t>COBS 9.2, Consumer Duty PS22/9, and FG21/1 checks rely on analyst memory.</a:t>
            </a:r>
          </a:p>
          <a:p>
            <a:pPr algn="l"/>
            <a:r>
              <a:rPr sz="1400" b="0">
                <a:solidFill>
                  <a:srgbClr val="1A2A3A"/>
                </a:solidFill>
                <a:latin typeface="Calibri"/>
              </a:rPr>
              <a:t>Regulatory scenarios are skipped under sprint pressure — creating audit exposure.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0" y="1463040"/>
            <a:ext cx="3657600" cy="4846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97680" y="1463040"/>
            <a:ext cx="3657600" cy="5029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34840" y="150876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92040" y="150876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Acceptance Criteria Quality Is Inconsistent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2148840"/>
            <a:ext cx="333756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2A3A"/>
                </a:solidFill>
                <a:latin typeface="Calibri"/>
              </a:rPr>
              <a:t>Stories enter development with vague, incomplete, or untestable ACs.</a:t>
            </a:r>
          </a:p>
          <a:p>
            <a:pPr algn="l"/>
            <a:r>
              <a:rPr sz="1400" b="0">
                <a:solidFill>
                  <a:srgbClr val="1A2A3A"/>
                </a:solidFill>
                <a:latin typeface="Calibri"/>
              </a:rPr>
              <a:t>Defects caught in UAT or production that should have been specified at refinement.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0" y="1463040"/>
            <a:ext cx="3657600" cy="4846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29600" y="1463040"/>
            <a:ext cx="3657600" cy="5029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66760" y="150876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23960" y="150876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QE Is a Bottleneck, Not a Safeguard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2148840"/>
            <a:ext cx="333756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2A3A"/>
                </a:solidFill>
                <a:latin typeface="Calibri"/>
              </a:rPr>
              <a:t>Manual test design, FCA review, and audit documentation consume 30+ hours</a:t>
            </a:r>
          </a:p>
          <a:p>
            <a:pPr algn="l"/>
            <a:r>
              <a:rPr sz="1400" b="0">
                <a:solidFill>
                  <a:srgbClr val="1A2A3A"/>
                </a:solidFill>
                <a:latin typeface="Calibri"/>
              </a:rPr>
              <a:t>per sprint of senior QE time — effort that does not scale with delivery pace.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The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4980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B4D8"/>
                </a:solidFill>
                <a:latin typeface="Calibri"/>
              </a:rPr>
              <a:t>An autonomous AI pipeline that QE-reviews every story — before a line of code is written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41732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D1B2A"/>
                </a:solidFill>
                <a:latin typeface="Calibri"/>
              </a:rPr>
              <a:t>FSC Agentic QE Framework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011680"/>
            <a:ext cx="107899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2A3A"/>
                </a:solidFill>
                <a:latin typeface="Calibri"/>
              </a:rPr>
              <a:t>  ›  53 specialised AI agents — each focused on one QE discipline</a:t>
            </a:r>
          </a:p>
          <a:p>
            <a:pPr algn="l"/>
            <a:r>
              <a:rPr sz="1700" b="0">
                <a:solidFill>
                  <a:srgbClr val="1A2A3A"/>
                </a:solidFill>
                <a:latin typeface="Calibri"/>
              </a:rPr>
              <a:t>  ›  4 sequential phases: Refinement → Development → Testing → Release</a:t>
            </a:r>
          </a:p>
          <a:p>
            <a:pPr algn="l"/>
            <a:r>
              <a:rPr sz="1700" b="0">
                <a:solidFill>
                  <a:srgbClr val="1A2A3A"/>
                </a:solidFill>
                <a:latin typeface="Calibri"/>
              </a:rPr>
              <a:t>  ›  12 quality gates — stories cannot advance if critical criteria fail</a:t>
            </a:r>
          </a:p>
          <a:p>
            <a:pPr algn="l"/>
            <a:r>
              <a:rPr sz="1700" b="0">
                <a:solidFill>
                  <a:srgbClr val="1A2A3A"/>
                </a:solidFill>
                <a:latin typeface="Calibri"/>
              </a:rPr>
              <a:t>  ›  FCA-aware — COBS 9.2, Consumer Duty PS22/9, FG21/1 checked automatically on every story</a:t>
            </a:r>
          </a:p>
          <a:p>
            <a:pPr algn="l"/>
            <a:r>
              <a:rPr sz="1700" b="0">
                <a:solidFill>
                  <a:srgbClr val="1A2A3A"/>
                </a:solidFill>
                <a:latin typeface="Calibri"/>
              </a:rPr>
              <a:t>  ›  Immutable audit ledger — every agent decision is logged and cannot be altered</a:t>
            </a:r>
          </a:p>
          <a:p>
            <a:pPr algn="l"/>
            <a:r>
              <a:rPr sz="1700" b="0">
                <a:solidFill>
                  <a:srgbClr val="1A2A3A"/>
                </a:solidFill>
                <a:latin typeface="Calibri"/>
              </a:rPr>
              <a:t>  ›  Generates structured BDD acceptance criteria, test design strategy, risk register, and FCA evidence pack</a:t>
            </a:r>
          </a:p>
          <a:p>
            <a:pPr algn="l"/>
            <a:r>
              <a:rPr sz="1700" b="0">
                <a:solidFill>
                  <a:srgbClr val="1A2A3A"/>
                </a:solidFill>
                <a:latin typeface="Calibri"/>
              </a:rPr>
              <a:t>  ›  Runs in under 10 minutes per story — no manual effort required per sprint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5852160"/>
            <a:ext cx="11430000" cy="6858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59436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Result: every story exits refinement with complete, FCA-validated QE documentation — automatically.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4980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B4D8"/>
                </a:solidFill>
                <a:latin typeface="Calibri"/>
              </a:rPr>
              <a:t>Four phases, each gate-controlled — stories advance only when quality criteria are met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417320"/>
            <a:ext cx="2743200" cy="5029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79" y="146304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REFINEMENT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79" y="19659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00B4D8"/>
                </a:solidFill>
                <a:latin typeface="Calibri"/>
              </a:rPr>
              <a:t>Agents 1–9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2331720"/>
            <a:ext cx="2743200" cy="374903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423160"/>
            <a:ext cx="2514600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A3A"/>
                </a:solidFill>
                <a:latin typeface="Calibri"/>
              </a:rPr>
              <a:t>  ✓  Story Intent</a:t>
            </a:r>
          </a:p>
          <a:p>
            <a:pPr algn="l"/>
            <a:r>
              <a:rPr sz="1300" b="0">
                <a:solidFill>
                  <a:srgbClr val="1A2A3A"/>
                </a:solidFill>
                <a:latin typeface="Calibri"/>
              </a:rPr>
              <a:t>  ✓  FCA Classify</a:t>
            </a:r>
          </a:p>
          <a:p>
            <a:pPr algn="l"/>
            <a:r>
              <a:rPr sz="1300" b="0">
                <a:solidFill>
                  <a:srgbClr val="1A2A3A"/>
                </a:solidFill>
                <a:latin typeface="Calibri"/>
              </a:rPr>
              <a:t>  ✓  Consumer Duty</a:t>
            </a:r>
          </a:p>
          <a:p>
            <a:pPr algn="l"/>
            <a:r>
              <a:rPr sz="1300" b="0">
                <a:solidFill>
                  <a:srgbClr val="1A2A3A"/>
                </a:solidFill>
                <a:latin typeface="Calibri"/>
              </a:rPr>
              <a:t>  ✓  AC Generator</a:t>
            </a:r>
          </a:p>
          <a:p>
            <a:pPr algn="l"/>
            <a:r>
              <a:rPr sz="1300" b="0">
                <a:solidFill>
                  <a:srgbClr val="1A2A3A"/>
                </a:solidFill>
                <a:latin typeface="Calibri"/>
              </a:rPr>
              <a:t>  ✓  Test Design</a:t>
            </a:r>
          </a:p>
          <a:p>
            <a:pPr algn="l"/>
            <a:r>
              <a:rPr sz="1300" b="0">
                <a:solidFill>
                  <a:srgbClr val="1A2A3A"/>
                </a:solidFill>
                <a:latin typeface="Calibri"/>
              </a:rPr>
              <a:t>  ✓  Risk Register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18104" y="2651760"/>
            <a:ext cx="228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D1B2A"/>
                </a:solidFill>
                <a:latin typeface="Calibri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91840" y="1417320"/>
            <a:ext cx="2743200" cy="502920"/>
          </a:xfrm>
          <a:prstGeom prst="rect">
            <a:avLst/>
          </a:prstGeom>
          <a:solidFill>
            <a:srgbClr val="0273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83280" y="146304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DEVELOPMENT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19659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027396"/>
                </a:solidFill>
                <a:latin typeface="Calibri"/>
              </a:rPr>
              <a:t>Agents 10–23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91840" y="2331720"/>
            <a:ext cx="2743200" cy="374903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29000" y="2423160"/>
            <a:ext cx="2514600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A3A"/>
                </a:solidFill>
                <a:latin typeface="Calibri"/>
              </a:rPr>
              <a:t>  ✓  AC Compliance</a:t>
            </a:r>
          </a:p>
          <a:p>
            <a:pPr algn="l"/>
            <a:r>
              <a:rPr sz="1300" b="0">
                <a:solidFill>
                  <a:srgbClr val="1A2A3A"/>
                </a:solidFill>
                <a:latin typeface="Calibri"/>
              </a:rPr>
              <a:t>  ✓  Branch Tracer</a:t>
            </a:r>
          </a:p>
          <a:p>
            <a:pPr algn="l"/>
            <a:r>
              <a:rPr sz="1300" b="0">
                <a:solidFill>
                  <a:srgbClr val="1A2A3A"/>
                </a:solidFill>
                <a:latin typeface="Calibri"/>
              </a:rPr>
              <a:t>  ✓  Apex Coverage</a:t>
            </a:r>
          </a:p>
          <a:p>
            <a:pPr algn="l"/>
            <a:r>
              <a:rPr sz="1300" b="0">
                <a:solidFill>
                  <a:srgbClr val="1A2A3A"/>
                </a:solidFill>
                <a:latin typeface="Calibri"/>
              </a:rPr>
              <a:t>  ✓  Code Quality</a:t>
            </a:r>
          </a:p>
          <a:p>
            <a:pPr algn="l"/>
            <a:r>
              <a:rPr sz="1300" b="0">
                <a:solidFill>
                  <a:srgbClr val="1A2A3A"/>
                </a:solidFill>
                <a:latin typeface="Calibri"/>
              </a:rPr>
              <a:t>  ✓  BDD Gherkin</a:t>
            </a:r>
          </a:p>
          <a:p>
            <a:pPr algn="l"/>
            <a:r>
              <a:rPr sz="1300" b="0">
                <a:solidFill>
                  <a:srgbClr val="1A2A3A"/>
                </a:solidFill>
                <a:latin typeface="Calibri"/>
              </a:rPr>
              <a:t>  ✓  Test Data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9904" y="2651760"/>
            <a:ext cx="228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D1B2A"/>
                </a:solidFill>
                <a:latin typeface="Calibri"/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63640" y="1417320"/>
            <a:ext cx="2743200" cy="502920"/>
          </a:xfrm>
          <a:prstGeom prst="rect">
            <a:avLst/>
          </a:prstGeom>
          <a:solidFill>
            <a:srgbClr val="0152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5079" y="146304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TESTING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79" y="19659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015271"/>
                </a:solidFill>
                <a:latin typeface="Calibri"/>
              </a:rPr>
              <a:t>Agents 24–38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63640" y="2331720"/>
            <a:ext cx="2743200" cy="374903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2423160"/>
            <a:ext cx="2514600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A3A"/>
                </a:solidFill>
                <a:latin typeface="Calibri"/>
              </a:rPr>
              <a:t>  ✓  CRT Scenarios</a:t>
            </a:r>
          </a:p>
          <a:p>
            <a:pPr algn="l"/>
            <a:r>
              <a:rPr sz="1300" b="0">
                <a:solidFill>
                  <a:srgbClr val="1A2A3A"/>
                </a:solidFill>
                <a:latin typeface="Calibri"/>
              </a:rPr>
              <a:t>  ✓  UAT Cases</a:t>
            </a:r>
          </a:p>
          <a:p>
            <a:pPr algn="l"/>
            <a:r>
              <a:rPr sz="1300" b="0">
                <a:solidFill>
                  <a:srgbClr val="1A2A3A"/>
                </a:solidFill>
                <a:latin typeface="Calibri"/>
              </a:rPr>
              <a:t>  ✓  FCA Scenarios</a:t>
            </a:r>
          </a:p>
          <a:p>
            <a:pPr algn="l"/>
            <a:r>
              <a:rPr sz="1300" b="0">
                <a:solidFill>
                  <a:srgbClr val="1A2A3A"/>
                </a:solidFill>
                <a:latin typeface="Calibri"/>
              </a:rPr>
              <a:t>  ✓  Root Cause</a:t>
            </a:r>
          </a:p>
          <a:p>
            <a:pPr algn="l"/>
            <a:r>
              <a:rPr sz="1300" b="0">
                <a:solidFill>
                  <a:srgbClr val="1A2A3A"/>
                </a:solidFill>
                <a:latin typeface="Calibri"/>
              </a:rPr>
              <a:t>  ✓  Regression Risk</a:t>
            </a:r>
          </a:p>
          <a:p>
            <a:pPr algn="l"/>
            <a:r>
              <a:rPr sz="1300" b="0">
                <a:solidFill>
                  <a:srgbClr val="1A2A3A"/>
                </a:solidFill>
                <a:latin typeface="Calibri"/>
              </a:rPr>
              <a:t>  ✓  Flaky Tests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61704" y="2651760"/>
            <a:ext cx="228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D1B2A"/>
                </a:solidFill>
                <a:latin typeface="Calibri"/>
              </a:rPr>
              <a:t>→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235440" y="1417320"/>
            <a:ext cx="2743200" cy="5029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26880" y="146304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RELEASE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26880" y="19659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0D1B2A"/>
                </a:solidFill>
                <a:latin typeface="Calibri"/>
              </a:rPr>
              <a:t>Agents 39–50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235440" y="2331720"/>
            <a:ext cx="2743200" cy="374903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72600" y="2423160"/>
            <a:ext cx="2514600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A3A"/>
                </a:solidFill>
                <a:latin typeface="Calibri"/>
              </a:rPr>
              <a:t>  ✓  Readiness</a:t>
            </a:r>
          </a:p>
          <a:p>
            <a:pPr algn="l"/>
            <a:r>
              <a:rPr sz="1300" b="0">
                <a:solidFill>
                  <a:srgbClr val="1A2A3A"/>
                </a:solidFill>
                <a:latin typeface="Calibri"/>
              </a:rPr>
              <a:t>  ✓  Change Set</a:t>
            </a:r>
          </a:p>
          <a:p>
            <a:pPr algn="l"/>
            <a:r>
              <a:rPr sz="1300" b="0">
                <a:solidFill>
                  <a:srgbClr val="1A2A3A"/>
                </a:solidFill>
                <a:latin typeface="Calibri"/>
              </a:rPr>
              <a:t>  ✓  Dry-Run</a:t>
            </a:r>
          </a:p>
          <a:p>
            <a:pPr algn="l"/>
            <a:r>
              <a:rPr sz="1300" b="0">
                <a:solidFill>
                  <a:srgbClr val="1A2A3A"/>
                </a:solidFill>
                <a:latin typeface="Calibri"/>
              </a:rPr>
              <a:t>  ✓  FCA Evidence</a:t>
            </a:r>
          </a:p>
          <a:p>
            <a:pPr algn="l"/>
            <a:r>
              <a:rPr sz="1300" b="0">
                <a:solidFill>
                  <a:srgbClr val="1A2A3A"/>
                </a:solidFill>
                <a:latin typeface="Calibri"/>
              </a:rPr>
              <a:t>  ✓  Go/No-Go</a:t>
            </a:r>
          </a:p>
          <a:p>
            <a:pPr algn="l"/>
            <a:r>
              <a:rPr sz="1300" b="0">
                <a:solidFill>
                  <a:srgbClr val="1A2A3A"/>
                </a:solidFill>
                <a:latin typeface="Calibri"/>
              </a:rPr>
              <a:t>  ✓  Prod Validation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" y="626364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A3A"/>
                </a:solidFill>
                <a:latin typeface="Calibri"/>
              </a:rPr>
              <a:t>Each phase concludes with automated gate checks. Stories are blocked from advancing on failure — not just flagged.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What the Framework Produces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4980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B4D8"/>
                </a:solidFill>
                <a:latin typeface="Calibri"/>
              </a:rPr>
              <a:t>Outputs per story, automatically — replacing hours of manual QE work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417320"/>
            <a:ext cx="1737360" cy="34747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93192" y="1453896"/>
            <a:ext cx="15910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Phase</a:t>
            </a:r>
          </a:p>
        </p:txBody>
      </p:sp>
      <p:sp>
        <p:nvSpPr>
          <p:cNvPr id="8" name="Rectangle 7"/>
          <p:cNvSpPr/>
          <p:nvPr/>
        </p:nvSpPr>
        <p:spPr>
          <a:xfrm>
            <a:off x="2148840" y="1417320"/>
            <a:ext cx="6217920" cy="34747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21992" y="1453896"/>
            <a:ext cx="60716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Output</a:t>
            </a:r>
          </a:p>
        </p:txBody>
      </p:sp>
      <p:sp>
        <p:nvSpPr>
          <p:cNvPr id="10" name="Rectangle 9"/>
          <p:cNvSpPr/>
          <p:nvPr/>
        </p:nvSpPr>
        <p:spPr>
          <a:xfrm>
            <a:off x="8458200" y="1417320"/>
            <a:ext cx="2560320" cy="34747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31352" y="1453896"/>
            <a:ext cx="241401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Agent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1764792"/>
            <a:ext cx="1737360" cy="45720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148840" y="1764792"/>
            <a:ext cx="6217920" cy="45720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458200" y="1764792"/>
            <a:ext cx="2560320" cy="45720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93192" y="1810512"/>
            <a:ext cx="159105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A3A"/>
                </a:solidFill>
                <a:latin typeface="Calibri"/>
              </a:rPr>
              <a:t>Refinement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21992" y="1810512"/>
            <a:ext cx="607161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A3A"/>
                </a:solidFill>
                <a:latin typeface="Calibri"/>
              </a:rPr>
              <a:t>Complete BDD acceptance criteria (Given/When/Then) for every scenario type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31352" y="1810512"/>
            <a:ext cx="24140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A3A"/>
                </a:solidFill>
                <a:latin typeface="Calibri"/>
              </a:rPr>
              <a:t>Agent 05 AC Generator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2221991"/>
            <a:ext cx="1737360" cy="45720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148840" y="2221991"/>
            <a:ext cx="6217920" cy="45720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458200" y="2221991"/>
            <a:ext cx="2560320" cy="45720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93192" y="2267711"/>
            <a:ext cx="159105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A3A"/>
                </a:solidFill>
                <a:latin typeface="Calibri"/>
              </a:rPr>
              <a:t>Refinement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21992" y="2267711"/>
            <a:ext cx="607161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A3A"/>
                </a:solidFill>
                <a:latin typeface="Calibri"/>
              </a:rPr>
              <a:t>FCA risk classification: HIGH / MEDIUM / LOW with regulatory triggers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31352" y="2267711"/>
            <a:ext cx="24140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A3A"/>
                </a:solidFill>
                <a:latin typeface="Calibri"/>
              </a:rPr>
              <a:t>Agent 03 FCA Classifier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2679191"/>
            <a:ext cx="1737360" cy="45720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148840" y="2679191"/>
            <a:ext cx="6217920" cy="45720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458200" y="2679191"/>
            <a:ext cx="2560320" cy="45720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93192" y="2724911"/>
            <a:ext cx="159105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A3A"/>
                </a:solidFill>
                <a:latin typeface="Calibri"/>
              </a:rPr>
              <a:t>Refinement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21992" y="2724911"/>
            <a:ext cx="607161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A3A"/>
                </a:solidFill>
                <a:latin typeface="Calibri"/>
              </a:rPr>
              <a:t>Consumer Duty mapping — all PS22/9 obligations linked to story ACs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31352" y="2724911"/>
            <a:ext cx="24140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A3A"/>
                </a:solidFill>
                <a:latin typeface="Calibri"/>
              </a:rPr>
              <a:t>Agent 04 Consumer Duty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" y="3136391"/>
            <a:ext cx="1737360" cy="45720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148840" y="3136391"/>
            <a:ext cx="6217920" cy="45720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458200" y="3136391"/>
            <a:ext cx="2560320" cy="45720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93192" y="3182111"/>
            <a:ext cx="159105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A3A"/>
                </a:solidFill>
                <a:latin typeface="Calibri"/>
              </a:rPr>
              <a:t>Refinement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21992" y="3182111"/>
            <a:ext cx="607161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A3A"/>
                </a:solidFill>
                <a:latin typeface="Calibri"/>
              </a:rPr>
              <a:t>Risk register — critical/high risks flagged before development starts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31352" y="3182111"/>
            <a:ext cx="24140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A3A"/>
                </a:solidFill>
                <a:latin typeface="Calibri"/>
              </a:rPr>
              <a:t>Agent 09 Risk Anticipation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20040" y="3593591"/>
            <a:ext cx="1737360" cy="457200"/>
          </a:xfrm>
          <a:prstGeom prst="rect">
            <a:avLst/>
          </a:prstGeom>
          <a:solidFill>
            <a:srgbClr val="E8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148840" y="3593591"/>
            <a:ext cx="6217920" cy="457200"/>
          </a:xfrm>
          <a:prstGeom prst="rect">
            <a:avLst/>
          </a:prstGeom>
          <a:solidFill>
            <a:srgbClr val="E8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458200" y="3593591"/>
            <a:ext cx="2560320" cy="457200"/>
          </a:xfrm>
          <a:prstGeom prst="rect">
            <a:avLst/>
          </a:prstGeom>
          <a:solidFill>
            <a:srgbClr val="E8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93192" y="3639311"/>
            <a:ext cx="159105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A3A"/>
                </a:solidFill>
                <a:latin typeface="Calibri"/>
              </a:rPr>
              <a:t>Development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21992" y="3639311"/>
            <a:ext cx="607161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A3A"/>
                </a:solidFill>
                <a:latin typeface="Calibri"/>
              </a:rPr>
              <a:t>BDD Gherkin test files (.feature) ready for execution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31352" y="3639311"/>
            <a:ext cx="24140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A3A"/>
                </a:solidFill>
                <a:latin typeface="Calibri"/>
              </a:rPr>
              <a:t>Agent 19 BDD Writer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20040" y="4050791"/>
            <a:ext cx="1737360" cy="457200"/>
          </a:xfrm>
          <a:prstGeom prst="rect">
            <a:avLst/>
          </a:prstGeom>
          <a:solidFill>
            <a:srgbClr val="E8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2148840" y="4050791"/>
            <a:ext cx="6217920" cy="457200"/>
          </a:xfrm>
          <a:prstGeom prst="rect">
            <a:avLst/>
          </a:prstGeom>
          <a:solidFill>
            <a:srgbClr val="E8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458200" y="4050791"/>
            <a:ext cx="2560320" cy="457200"/>
          </a:xfrm>
          <a:prstGeom prst="rect">
            <a:avLst/>
          </a:prstGeom>
          <a:solidFill>
            <a:srgbClr val="E8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93192" y="4096511"/>
            <a:ext cx="159105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A3A"/>
                </a:solidFill>
                <a:latin typeface="Calibri"/>
              </a:rPr>
              <a:t>Development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221992" y="4096511"/>
            <a:ext cx="607161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A3A"/>
                </a:solidFill>
                <a:latin typeface="Calibri"/>
              </a:rPr>
              <a:t>Test data architecture — Salesforce setup scripts and data volumes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531352" y="4096511"/>
            <a:ext cx="24140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A3A"/>
                </a:solidFill>
                <a:latin typeface="Calibri"/>
              </a:rPr>
              <a:t>Agent 21 Test Data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20040" y="4507992"/>
            <a:ext cx="1737360" cy="457200"/>
          </a:xfrm>
          <a:prstGeom prst="rect">
            <a:avLst/>
          </a:prstGeom>
          <a:solidFill>
            <a:srgbClr val="FDF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2148840" y="4507992"/>
            <a:ext cx="6217920" cy="457200"/>
          </a:xfrm>
          <a:prstGeom prst="rect">
            <a:avLst/>
          </a:prstGeom>
          <a:solidFill>
            <a:srgbClr val="FDF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8458200" y="4507992"/>
            <a:ext cx="2560320" cy="457200"/>
          </a:xfrm>
          <a:prstGeom prst="rect">
            <a:avLst/>
          </a:prstGeom>
          <a:solidFill>
            <a:srgbClr val="FDF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93192" y="4553712"/>
            <a:ext cx="159105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A3A"/>
                </a:solidFill>
                <a:latin typeface="Calibri"/>
              </a:rPr>
              <a:t>Testing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221992" y="4553712"/>
            <a:ext cx="607161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A3A"/>
                </a:solidFill>
                <a:latin typeface="Calibri"/>
              </a:rPr>
              <a:t>CRT scenarios, UAT test cases, FCA-specific regulatory tests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531352" y="4553712"/>
            <a:ext cx="24140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A3A"/>
                </a:solidFill>
                <a:latin typeface="Calibri"/>
              </a:rPr>
              <a:t>Agents 26-30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20040" y="4965192"/>
            <a:ext cx="1737360" cy="457200"/>
          </a:xfrm>
          <a:prstGeom prst="rect">
            <a:avLst/>
          </a:prstGeom>
          <a:solidFill>
            <a:srgbClr val="F4E8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2148840" y="4965192"/>
            <a:ext cx="6217920" cy="457200"/>
          </a:xfrm>
          <a:prstGeom prst="rect">
            <a:avLst/>
          </a:prstGeom>
          <a:solidFill>
            <a:srgbClr val="F4E8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8458200" y="4965192"/>
            <a:ext cx="2560320" cy="457200"/>
          </a:xfrm>
          <a:prstGeom prst="rect">
            <a:avLst/>
          </a:prstGeom>
          <a:solidFill>
            <a:srgbClr val="F4E8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93192" y="5010912"/>
            <a:ext cx="159105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A3A"/>
                </a:solidFill>
                <a:latin typeface="Calibri"/>
              </a:rPr>
              <a:t>Release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221992" y="5010912"/>
            <a:ext cx="607161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A3A"/>
                </a:solidFill>
                <a:latin typeface="Calibri"/>
              </a:rPr>
              <a:t>FCA Evidence Pack — audit-ready compliance documentation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531352" y="5010912"/>
            <a:ext cx="24140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A3A"/>
                </a:solidFill>
                <a:latin typeface="Calibri"/>
              </a:rPr>
              <a:t>Agent 44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20040" y="5422392"/>
            <a:ext cx="1737360" cy="457200"/>
          </a:xfrm>
          <a:prstGeom prst="rect">
            <a:avLst/>
          </a:prstGeom>
          <a:solidFill>
            <a:srgbClr val="F4E8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2148840" y="5422392"/>
            <a:ext cx="6217920" cy="457200"/>
          </a:xfrm>
          <a:prstGeom prst="rect">
            <a:avLst/>
          </a:prstGeom>
          <a:solidFill>
            <a:srgbClr val="F4E8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8458200" y="5422392"/>
            <a:ext cx="2560320" cy="457200"/>
          </a:xfrm>
          <a:prstGeom prst="rect">
            <a:avLst/>
          </a:prstGeom>
          <a:solidFill>
            <a:srgbClr val="F4E8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93192" y="5468112"/>
            <a:ext cx="159105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A3A"/>
                </a:solidFill>
                <a:latin typeface="Calibri"/>
              </a:rPr>
              <a:t>Release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221992" y="5468112"/>
            <a:ext cx="607161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A3A"/>
                </a:solidFill>
                <a:latin typeface="Calibri"/>
              </a:rPr>
              <a:t>Go/No-Go coordinator — final release gate with sign-off tracking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531352" y="5468112"/>
            <a:ext cx="24140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A3A"/>
                </a:solidFill>
                <a:latin typeface="Calibri"/>
              </a:rPr>
              <a:t>Agent 45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20040" y="626364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2A3A"/>
                </a:solidFill>
                <a:latin typeface="Calibri"/>
              </a:rPr>
              <a:t>Each output is structured JSON stored in the audit ledger — queryable, reportable, and FCA-submittable.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0"/>
            <a:ext cx="12188952" cy="557784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FCA Compliance — Built In, Not Bolted 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4980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B4D8"/>
                </a:solidFill>
                <a:latin typeface="Calibri"/>
              </a:rPr>
              <a:t>Every story is checked against FCA obligations before development begins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463040"/>
            <a:ext cx="3657600" cy="4937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463040"/>
            <a:ext cx="3657600" cy="7772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508760"/>
            <a:ext cx="3429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COBS 9.2
Suitability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377440"/>
            <a:ext cx="333756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A3A"/>
                </a:solidFill>
                <a:latin typeface="Calibri"/>
              </a:rPr>
              <a:t>Agent 03 detects Suitability__c and RiskProfile__c involvement.</a:t>
            </a:r>
          </a:p>
          <a:p>
            <a:pPr algn="l"/>
            <a:r>
              <a:rPr sz="1300" b="0">
                <a:solidFill>
                  <a:srgbClr val="1A2A3A"/>
                </a:solidFill>
                <a:latin typeface="Calibri"/>
              </a:rPr>
              <a:t>Agent 05 generates mandatory regulatory AC scenarios testing the COBS 9.2 gate.</a:t>
            </a:r>
          </a:p>
          <a:p>
            <a:pPr algn="l"/>
            <a:r>
              <a:rPr sz="1300" b="0">
                <a:solidFill>
                  <a:srgbClr val="1A2A3A"/>
                </a:solidFill>
                <a:latin typeface="Calibri"/>
              </a:rPr>
              <a:t>Agent 45 blocks go/no-go if COBS 9.2 scenarios are missing.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0" y="1463040"/>
            <a:ext cx="3657600" cy="4937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97680" y="1463040"/>
            <a:ext cx="3657600" cy="7772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34840" y="1508760"/>
            <a:ext cx="3429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Consumer Duty
PS22/9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2377440"/>
            <a:ext cx="333756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A3A"/>
                </a:solidFill>
                <a:latin typeface="Calibri"/>
              </a:rPr>
              <a:t>Agent 04 maps all four Consumer Duty outcomes to story obligations.</a:t>
            </a:r>
          </a:p>
          <a:p>
            <a:pPr algn="l"/>
            <a:r>
              <a:rPr sz="1300" b="0">
                <a:solidFill>
                  <a:srgbClr val="1A2A3A"/>
                </a:solidFill>
                <a:latin typeface="Calibri"/>
              </a:rPr>
              <a:t>Vulnerable customer pathways (FG21/1 §4.3) are flagged and tested.</a:t>
            </a:r>
          </a:p>
          <a:p>
            <a:pPr algn="l"/>
            <a:r>
              <a:rPr sz="1300" b="0">
                <a:solidFill>
                  <a:srgbClr val="1A2A3A"/>
                </a:solidFill>
                <a:latin typeface="Calibri"/>
              </a:rPr>
              <a:t>Agent 44 assembles Consumer Duty evidence for each story automatically.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0" y="1463040"/>
            <a:ext cx="3657600" cy="4937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0" y="1463040"/>
            <a:ext cx="3657600" cy="7772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66760" y="1508760"/>
            <a:ext cx="3429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Audit Trail
&amp; SYSC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2377440"/>
            <a:ext cx="333756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A3A"/>
                </a:solidFill>
                <a:latin typeface="Calibri"/>
              </a:rPr>
              <a:t>All agent decisions written to an immutable, append-only PostgreSQL ledger.</a:t>
            </a:r>
          </a:p>
          <a:p>
            <a:pPr algn="l"/>
            <a:r>
              <a:rPr sz="1300" b="0">
                <a:solidFill>
                  <a:srgbClr val="1A2A3A"/>
                </a:solidFill>
                <a:latin typeface="Calibri"/>
              </a:rPr>
              <a:t>COBS 9.2 acknowledgements are captured with adviser ID and timestamp.</a:t>
            </a:r>
          </a:p>
          <a:p>
            <a:pPr algn="l"/>
            <a:r>
              <a:rPr sz="1300" b="0">
                <a:solidFill>
                  <a:srgbClr val="1A2A3A"/>
                </a:solidFill>
                <a:latin typeface="Calibri"/>
              </a:rPr>
              <a:t>Evidence pack is audit-ready — no manual assembly before FCA review.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6473952"/>
            <a:ext cx="11430000" cy="29260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6492240"/>
            <a:ext cx="11064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Framework FCA classification is independently validated per story — HIGH, MEDIUM, or LOW — and gates are tighter for HIGH-FCA stories.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Validated. Measured. Ready.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B4D8"/>
                </a:solidFill>
                <a:latin typeface="Calibri"/>
              </a:rPr>
              <a:t>Framework validation results — story FSC-2417, Salesforce FSC Wealth Management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91640"/>
            <a:ext cx="2560320" cy="14630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78308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00B4D8"/>
                </a:solidFill>
                <a:latin typeface="Calibri"/>
              </a:rPr>
              <a:t>53 / 53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0604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Agents Passed</a:t>
            </a:r>
          </a:p>
        </p:txBody>
      </p:sp>
      <p:sp>
        <p:nvSpPr>
          <p:cNvPr id="8" name="Rectangle 7"/>
          <p:cNvSpPr/>
          <p:nvPr/>
        </p:nvSpPr>
        <p:spPr>
          <a:xfrm>
            <a:off x="3429000" y="1691640"/>
            <a:ext cx="2560320" cy="14630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20440" y="178308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00B4D8"/>
                </a:solidFill>
                <a:latin typeface="Calibri"/>
              </a:rPr>
              <a:t>1,065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20440" y="260604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Automated Tests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1691640"/>
            <a:ext cx="2560320" cy="14630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78308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00B4D8"/>
                </a:solidFill>
                <a:latin typeface="Calibri"/>
              </a:rPr>
              <a:t>75.1 %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60604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Avg Confidence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372600" y="1691640"/>
            <a:ext cx="2560320" cy="14630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64040" y="178308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00B4D8"/>
                </a:solidFill>
                <a:latin typeface="Calibri"/>
              </a:rPr>
              <a:t>&lt; 10 min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64040" y="260604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Per Story Runtime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429000"/>
            <a:ext cx="11247120" cy="475488"/>
          </a:xfrm>
          <a:prstGeom prst="rect">
            <a:avLst/>
          </a:prstGeom>
          <a:solidFill>
            <a:srgbClr val="1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350215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B4D8"/>
                </a:solidFill>
                <a:latin typeface="Calibri"/>
              </a:rPr>
              <a:t>Confidence Tiers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51760" y="3502152"/>
            <a:ext cx="8961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Tier A = 97 (deterministic) · Tier B = signal-scored (20–92) · Tier C = rule-based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950208"/>
            <a:ext cx="11247120" cy="475488"/>
          </a:xfrm>
          <a:prstGeom prst="rect">
            <a:avLst/>
          </a:prstGeom>
          <a:solidFill>
            <a:srgbClr val="1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402336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B4D8"/>
                </a:solidFill>
                <a:latin typeface="Calibri"/>
              </a:rPr>
              <a:t>Escalation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51760" y="4023360"/>
            <a:ext cx="8961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Stories scoring below 60 are automatically flagged for senior QE review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471416"/>
            <a:ext cx="11247120" cy="475488"/>
          </a:xfrm>
          <a:prstGeom prst="rect">
            <a:avLst/>
          </a:prstGeom>
          <a:solidFill>
            <a:srgbClr val="1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4544568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B4D8"/>
                </a:solidFill>
                <a:latin typeface="Calibri"/>
              </a:rPr>
              <a:t>Coverage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651760" y="4544568"/>
            <a:ext cx="8961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Happy path · error paths · edge cases · regulatory scenarios — all verified per story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4992624"/>
            <a:ext cx="11247120" cy="475488"/>
          </a:xfrm>
          <a:prstGeom prst="rect">
            <a:avLst/>
          </a:prstGeom>
          <a:solidFill>
            <a:srgbClr val="1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4360" y="5065776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B4D8"/>
                </a:solidFill>
                <a:latin typeface="Calibri"/>
              </a:rPr>
              <a:t>Audit Ledger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51760" y="5065776"/>
            <a:ext cx="8961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Immutable append-only PostgreSQL log — every agent verdict stored with timestamp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5513832"/>
            <a:ext cx="11247120" cy="475488"/>
          </a:xfrm>
          <a:prstGeom prst="rect">
            <a:avLst/>
          </a:prstGeom>
          <a:solidFill>
            <a:srgbClr val="1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4360" y="5586984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B4D8"/>
                </a:solidFill>
                <a:latin typeface="Calibri"/>
              </a:rPr>
              <a:t>Gate Results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51760" y="5586984"/>
            <a:ext cx="8961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12 gates across 4 phases · stories blocked (not warned) on gate failure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649224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899AA"/>
                </a:solidFill>
                <a:latin typeface="Calibri"/>
              </a:rPr>
              <a:t>Validation run: 19 May 2026  ·  Story: FSC-2417 (HIGH-FCA, COBS 9.2 Suitability Assessment)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Business Benefits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4980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B4D8"/>
                </a:solidFill>
                <a:latin typeface="Calibri"/>
              </a:rPr>
              <a:t>Measurable impact across QE efficiency, regulatory risk, and delivery quality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463040"/>
            <a:ext cx="5394960" cy="2148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463040"/>
            <a:ext cx="201168" cy="21488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572768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D1B2A"/>
                </a:solidFill>
                <a:latin typeface="Calibri"/>
              </a:rPr>
              <a:t>Time Saved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011680"/>
            <a:ext cx="4937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A3A"/>
                </a:solidFill>
                <a:latin typeface="Calibri"/>
              </a:rPr>
              <a:t>Replaces 30+ hours of manual QE work per sprint.</a:t>
            </a:r>
          </a:p>
          <a:p>
            <a:pPr algn="l"/>
            <a:r>
              <a:rPr sz="1300" b="0">
                <a:solidFill>
                  <a:srgbClr val="1A2A3A"/>
                </a:solidFill>
                <a:latin typeface="Calibri"/>
              </a:rPr>
              <a:t>AC writing, FCA review, test design, and documentation</a:t>
            </a:r>
          </a:p>
          <a:p>
            <a:pPr algn="l"/>
            <a:r>
              <a:rPr sz="1300" b="0">
                <a:solidFill>
                  <a:srgbClr val="1A2A3A"/>
                </a:solidFill>
                <a:latin typeface="Calibri"/>
              </a:rPr>
              <a:t>are produced automatically in under 10 minutes.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3794760"/>
            <a:ext cx="5394960" cy="2148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3794760"/>
            <a:ext cx="201168" cy="2148840"/>
          </a:xfrm>
          <a:prstGeom prst="rect">
            <a:avLst/>
          </a:prstGeom>
          <a:solidFill>
            <a:srgbClr val="009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3904488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D1B2A"/>
                </a:solidFill>
                <a:latin typeface="Calibri"/>
              </a:rPr>
              <a:t>Regulatory Risk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343400"/>
            <a:ext cx="4937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A3A"/>
                </a:solidFill>
                <a:latin typeface="Calibri"/>
              </a:rPr>
              <a:t>FCA obligations checked on every story, every sprint.</a:t>
            </a:r>
          </a:p>
          <a:p>
            <a:pPr algn="l"/>
            <a:r>
              <a:rPr sz="1300" b="0">
                <a:solidFill>
                  <a:srgbClr val="1A2A3A"/>
                </a:solidFill>
                <a:latin typeface="Calibri"/>
              </a:rPr>
              <a:t>No dependency on analyst memory or checklist discipline.</a:t>
            </a:r>
          </a:p>
          <a:p>
            <a:pPr algn="l"/>
            <a:r>
              <a:rPr sz="1300" b="0">
                <a:solidFill>
                  <a:srgbClr val="1A2A3A"/>
                </a:solidFill>
                <a:latin typeface="Calibri"/>
              </a:rPr>
              <a:t>Audit evidence generated — not assembled under pressure.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1463040"/>
            <a:ext cx="5394960" cy="2148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0" y="1463040"/>
            <a:ext cx="201168" cy="2148840"/>
          </a:xfrm>
          <a:prstGeom prst="rect">
            <a:avLst/>
          </a:prstGeom>
          <a:solidFill>
            <a:srgbClr val="5B2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20840" y="1572768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D1B2A"/>
                </a:solidFill>
                <a:latin typeface="Calibri"/>
              </a:rPr>
              <a:t>Defect Prevention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20840" y="2011680"/>
            <a:ext cx="4937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A3A"/>
                </a:solidFill>
                <a:latin typeface="Calibri"/>
              </a:rPr>
              <a:t>Risk register raised at refinement — before code is written.</a:t>
            </a:r>
          </a:p>
          <a:p>
            <a:pPr algn="l"/>
            <a:r>
              <a:rPr sz="1300" b="0">
                <a:solidFill>
                  <a:srgbClr val="1A2A3A"/>
                </a:solidFill>
                <a:latin typeface="Calibri"/>
              </a:rPr>
              <a:t>Critical risks are visible to the team 2–3 weeks earlier.</a:t>
            </a:r>
          </a:p>
          <a:p>
            <a:pPr algn="l"/>
            <a:r>
              <a:rPr sz="1300" b="0">
                <a:solidFill>
                  <a:srgbClr val="1A2A3A"/>
                </a:solidFill>
                <a:latin typeface="Calibri"/>
              </a:rPr>
              <a:t>BDD scenarios defined before development reduces rework.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0" y="3794760"/>
            <a:ext cx="5394960" cy="2148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0" y="3794760"/>
            <a:ext cx="201168" cy="21488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20840" y="3904488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D1B2A"/>
                </a:solidFill>
                <a:latin typeface="Calibri"/>
              </a:rPr>
              <a:t>Delivery Confidence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20840" y="4343400"/>
            <a:ext cx="4937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A3A"/>
                </a:solidFill>
                <a:latin typeface="Calibri"/>
              </a:rPr>
              <a:t>Go/No-Go gate with structured sign-off before every release.</a:t>
            </a:r>
          </a:p>
          <a:p>
            <a:pPr algn="l"/>
            <a:r>
              <a:rPr sz="1300" b="0">
                <a:solidFill>
                  <a:srgbClr val="1A2A3A"/>
                </a:solidFill>
                <a:latin typeface="Calibri"/>
              </a:rPr>
              <a:t>FCA Evidence Pack assembled automatically per story.</a:t>
            </a:r>
          </a:p>
          <a:p>
            <a:pPr algn="l"/>
            <a:r>
              <a:rPr sz="1300" b="0">
                <a:solidFill>
                  <a:srgbClr val="1A2A3A"/>
                </a:solidFill>
                <a:latin typeface="Calibri"/>
              </a:rPr>
              <a:t>Immutable audit ledger supports FCA and internal audit.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6126480"/>
            <a:ext cx="11430000" cy="5486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6199632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Conservative ROI estimate: 10 stories/sprint × 3 hrs manual QE saved × 50 sprints/year = 1,500 senior QE hours per year redirected to high-value testing.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Production Readiness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4980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B4D8"/>
                </a:solidFill>
                <a:latin typeface="Calibri"/>
              </a:rPr>
              <a:t>Framework is validated — 18 documented gaps remain before live deployment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463040"/>
            <a:ext cx="1143000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463040"/>
            <a:ext cx="201168" cy="402336"/>
          </a:xfrm>
          <a:prstGeom prst="rect">
            <a:avLst/>
          </a:prstGeom>
          <a:solidFill>
            <a:srgbClr val="009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527048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965C"/>
                </a:solidFill>
                <a:latin typeface="Calibri"/>
              </a:rPr>
              <a:t>COMPLETE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1527048"/>
            <a:ext cx="9692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A3A"/>
                </a:solidFill>
                <a:latin typeface="Calibri"/>
              </a:rPr>
              <a:t>53/53 agents validated on FSC-2417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901952"/>
            <a:ext cx="1143000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1901952"/>
            <a:ext cx="201168" cy="402336"/>
          </a:xfrm>
          <a:prstGeom prst="rect">
            <a:avLst/>
          </a:prstGeom>
          <a:solidFill>
            <a:srgbClr val="009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1965960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965C"/>
                </a:solidFill>
                <a:latin typeface="Calibri"/>
              </a:rPr>
              <a:t>COMPLETE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1965960"/>
            <a:ext cx="9692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A3A"/>
                </a:solidFill>
                <a:latin typeface="Calibri"/>
              </a:rPr>
              <a:t>1,065 automated unit tests — all passing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340864"/>
            <a:ext cx="1143000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5760" y="2340864"/>
            <a:ext cx="201168" cy="402336"/>
          </a:xfrm>
          <a:prstGeom prst="rect">
            <a:avLst/>
          </a:prstGeom>
          <a:solidFill>
            <a:srgbClr val="009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2404872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965C"/>
                </a:solidFill>
                <a:latin typeface="Calibri"/>
              </a:rPr>
              <a:t>COMPLETE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5960" y="2404872"/>
            <a:ext cx="9692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A3A"/>
                </a:solidFill>
                <a:latin typeface="Calibri"/>
              </a:rPr>
              <a:t>12 gates implemented and verified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779776"/>
            <a:ext cx="1143000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5760" y="2779776"/>
            <a:ext cx="201168" cy="402336"/>
          </a:xfrm>
          <a:prstGeom prst="rect">
            <a:avLst/>
          </a:prstGeom>
          <a:solidFill>
            <a:srgbClr val="009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2843784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965C"/>
                </a:solidFill>
                <a:latin typeface="Calibri"/>
              </a:rPr>
              <a:t>COMPLETE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65960" y="2843784"/>
            <a:ext cx="9692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A3A"/>
                </a:solidFill>
                <a:latin typeface="Calibri"/>
              </a:rPr>
              <a:t>FCA compliance checks validated for HIGH-FCA story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3218688"/>
            <a:ext cx="1143000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65760" y="3218688"/>
            <a:ext cx="201168" cy="402336"/>
          </a:xfrm>
          <a:prstGeom prst="rect">
            <a:avLst/>
          </a:prstGeom>
          <a:solidFill>
            <a:srgbClr val="009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3282696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965C"/>
                </a:solidFill>
                <a:latin typeface="Calibri"/>
              </a:rPr>
              <a:t>COMPLETE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65960" y="3282696"/>
            <a:ext cx="9692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A3A"/>
                </a:solidFill>
                <a:latin typeface="Calibri"/>
              </a:rPr>
              <a:t>HTML validation report and audit output generated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3657600"/>
            <a:ext cx="1143000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65760" y="3657600"/>
            <a:ext cx="201168" cy="402336"/>
          </a:xfrm>
          <a:prstGeom prst="rect">
            <a:avLst/>
          </a:prstGeom>
          <a:solidFill>
            <a:srgbClr val="E8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" y="3721608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88C00"/>
                </a:solidFill>
                <a:latin typeface="Calibri"/>
              </a:rPr>
              <a:t>PENDING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65960" y="3721608"/>
            <a:ext cx="9692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A3A"/>
                </a:solidFill>
                <a:latin typeface="Calibri"/>
              </a:rPr>
              <a:t>PostgreSQL production database provisioned and migrated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4096512"/>
            <a:ext cx="1143000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65760" y="4096512"/>
            <a:ext cx="201168" cy="402336"/>
          </a:xfrm>
          <a:prstGeom prst="rect">
            <a:avLst/>
          </a:prstGeom>
          <a:solidFill>
            <a:srgbClr val="E8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8368" y="4160520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88C00"/>
                </a:solidFill>
                <a:latin typeface="Calibri"/>
              </a:rPr>
              <a:t>PENDING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65960" y="4160520"/>
            <a:ext cx="9692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A3A"/>
                </a:solidFill>
                <a:latin typeface="Calibri"/>
              </a:rPr>
              <a:t>Anthropic API key added to production secrets manager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" y="4535424"/>
            <a:ext cx="1143000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65760" y="4535424"/>
            <a:ext cx="201168" cy="402336"/>
          </a:xfrm>
          <a:prstGeom prst="rect">
            <a:avLst/>
          </a:prstGeom>
          <a:solidFill>
            <a:srgbClr val="E8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8368" y="4599432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88C00"/>
                </a:solidFill>
                <a:latin typeface="Calibri"/>
              </a:rPr>
              <a:t>PENDING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65960" y="4599432"/>
            <a:ext cx="9692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A3A"/>
                </a:solidFill>
                <a:latin typeface="Calibri"/>
              </a:rPr>
              <a:t>Jira production OAuth credentials configured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65760" y="4974336"/>
            <a:ext cx="1143000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65760" y="4974336"/>
            <a:ext cx="201168" cy="402336"/>
          </a:xfrm>
          <a:prstGeom prst="rect">
            <a:avLst/>
          </a:prstGeom>
          <a:solidFill>
            <a:srgbClr val="E8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58368" y="5038344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88C00"/>
                </a:solidFill>
                <a:latin typeface="Calibri"/>
              </a:rPr>
              <a:t>PENDING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65960" y="5038344"/>
            <a:ext cx="9692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A3A"/>
                </a:solidFill>
                <a:latin typeface="Calibri"/>
              </a:rPr>
              <a:t>Copado webhook registered for CI/CD pipeline integration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5760" y="5413248"/>
            <a:ext cx="1143000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65760" y="5413248"/>
            <a:ext cx="201168" cy="402336"/>
          </a:xfrm>
          <a:prstGeom prst="rect">
            <a:avLst/>
          </a:prstGeom>
          <a:solidFill>
            <a:srgbClr val="E8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58368" y="5477256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88C00"/>
                </a:solidFill>
                <a:latin typeface="Calibri"/>
              </a:rPr>
              <a:t>PENDING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965960" y="5477256"/>
            <a:ext cx="9692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A3A"/>
                </a:solidFill>
                <a:latin typeface="Calibri"/>
              </a:rPr>
              <a:t>FCA Evidence Pack reviewed by Compliance before first live sprint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65760" y="62636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2A3A"/>
                </a:solidFill>
                <a:latin typeface="Calibri"/>
              </a:rPr>
              <a:t>Full gap register with effort estimates and owners in PRODUCTION_READINESS.md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Recommended Next Steps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1247120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11247120" cy="1554480"/>
          </a:xfrm>
          <a:prstGeom prst="rect">
            <a:avLst/>
          </a:prstGeom>
          <a:solidFill>
            <a:srgbClr val="1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594360" cy="15544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874519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D1B2A"/>
                </a:solidFill>
                <a:latin typeface="Calibr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463040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Approve Production Deployment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1965960"/>
            <a:ext cx="101498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DDEE"/>
                </a:solidFill>
                <a:latin typeface="Calibri"/>
              </a:rPr>
              <a:t>Commission infrastructure provisioning (PostgreSQL, secrets, Jira OAuth, Copado webhook).</a:t>
            </a:r>
          </a:p>
          <a:p>
            <a:pPr algn="l"/>
            <a:r>
              <a:rPr sz="1300" b="0">
                <a:solidFill>
                  <a:srgbClr val="CCDDEE"/>
                </a:solidFill>
                <a:latin typeface="Calibri"/>
              </a:rPr>
              <a:t>Assign a delivery lead to own the 18-gap closure plan.</a:t>
            </a:r>
          </a:p>
          <a:p>
            <a:pPr algn="l"/>
            <a:r>
              <a:rPr sz="1300" b="0">
                <a:solidFill>
                  <a:srgbClr val="CCDDEE"/>
                </a:solidFill>
                <a:latin typeface="Calibri"/>
              </a:rPr>
              <a:t>Target: framework live in production for next quarter sprint cycle.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063240"/>
            <a:ext cx="11247120" cy="1554480"/>
          </a:xfrm>
          <a:prstGeom prst="rect">
            <a:avLst/>
          </a:prstGeom>
          <a:solidFill>
            <a:srgbClr val="1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3063240"/>
            <a:ext cx="594360" cy="15544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356616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D1B2A"/>
                </a:solidFill>
                <a:latin typeface="Calibr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3154680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Run a Pilot Sprint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3657600"/>
            <a:ext cx="101498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DDEE"/>
                </a:solidFill>
                <a:latin typeface="Calibri"/>
              </a:rPr>
              <a:t>Select 3–5 stories from the next sprint backlog.</a:t>
            </a:r>
          </a:p>
          <a:p>
            <a:pPr algn="l"/>
            <a:r>
              <a:rPr sz="1300" b="0">
                <a:solidFill>
                  <a:srgbClr val="CCDDEE"/>
                </a:solidFill>
                <a:latin typeface="Calibri"/>
              </a:rPr>
              <a:t>Run the framework alongside the existing manual QE process.</a:t>
            </a:r>
          </a:p>
          <a:p>
            <a:pPr algn="l"/>
            <a:r>
              <a:rPr sz="1300" b="0">
                <a:solidFill>
                  <a:srgbClr val="CCDDEE"/>
                </a:solidFill>
                <a:latin typeface="Calibri"/>
              </a:rPr>
              <a:t>Measure: AC quality delta, FCA scenario coverage, time saved.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754880"/>
            <a:ext cx="11247120" cy="1554480"/>
          </a:xfrm>
          <a:prstGeom prst="rect">
            <a:avLst/>
          </a:prstGeom>
          <a:solidFill>
            <a:srgbClr val="1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4754880"/>
            <a:ext cx="594360" cy="15544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525780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D1B2A"/>
                </a:solidFill>
                <a:latin typeface="Calibri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4846320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Brief Compliance &amp; FCA Readiness Team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5349240"/>
            <a:ext cx="101498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DDEE"/>
                </a:solidFill>
                <a:latin typeface="Calibri"/>
              </a:rPr>
              <a:t>Share the FCA Evidence Pack output from FSC-2417 with the Compliance team.</a:t>
            </a:r>
          </a:p>
          <a:p>
            <a:pPr algn="l"/>
            <a:r>
              <a:rPr sz="1300" b="0">
                <a:solidFill>
                  <a:srgbClr val="CCDDEE"/>
                </a:solidFill>
                <a:latin typeface="Calibri"/>
              </a:rPr>
              <a:t>Confirm audit trail format meets SYSC and Consumer Duty documentation requirements.</a:t>
            </a:r>
          </a:p>
          <a:p>
            <a:pPr algn="l"/>
            <a:r>
              <a:rPr sz="1300" b="0">
                <a:solidFill>
                  <a:srgbClr val="CCDDEE"/>
                </a:solidFill>
                <a:latin typeface="Calibri"/>
              </a:rPr>
              <a:t>Obtain sign-off that automated evidence packs are acceptable for FCA review.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9224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67788"/>
                </a:solidFill>
                <a:latin typeface="Calibri"/>
              </a:rPr>
              <a:t>Prepared by QE Architecture Team  ·  FSC Agentic QE Framework  ·  May 2026  ·  CONFIDENTIAL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