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84064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FSC Agentic QE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B4D8"/>
                </a:solidFill>
                <a:latin typeface="Calibri"/>
              </a:rPr>
              <a:t>AI-Powered Quality Engineering for FCA-Regulated Salesforce FSC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5" y="3246120"/>
            <a:ext cx="2468880" cy="475488"/>
          </a:xfrm>
          <a:prstGeom prst="rect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5" y="327355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53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8435" y="3246120"/>
            <a:ext cx="2468880" cy="475488"/>
          </a:xfrm>
          <a:prstGeom prst="rect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8435" y="327355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 Phases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3246120"/>
            <a:ext cx="2468880" cy="475488"/>
          </a:xfrm>
          <a:prstGeom prst="rect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1636" y="327355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12 Gates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74836" y="3246120"/>
            <a:ext cx="2468880" cy="475488"/>
          </a:xfrm>
          <a:prstGeom prst="rect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6" y="3273552"/>
            <a:ext cx="2468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Validated 53 / 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218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AA"/>
                </a:solidFill>
                <a:latin typeface="Calibri"/>
              </a:rPr>
              <a:t>Senior Leadership Briefing  ·  May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5321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08800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Every sprint, QE is a bottleneck — and regulatory gaps go undetected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27432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600200"/>
            <a:ext cx="2743200" cy="73152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02828"/>
                </a:solidFill>
                <a:latin typeface="Calibri"/>
              </a:rPr>
              <a:t>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A4A5A"/>
                </a:solidFill>
                <a:latin typeface="Calibri"/>
              </a:rPr>
              <a:t>hours of senior QE time
consumed per sprint
on manual documentation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00200"/>
            <a:ext cx="27432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600200"/>
            <a:ext cx="2743200" cy="73152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02828"/>
                </a:solidFill>
                <a:latin typeface="Calibri"/>
              </a:rPr>
              <a:t>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A4A5A"/>
                </a:solidFill>
                <a:latin typeface="Calibri"/>
              </a:rPr>
              <a:t>of FCA-flagged defects
originate from missing
or untestable story ACs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600200"/>
            <a:ext cx="27432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00200"/>
            <a:ext cx="2743200" cy="73152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02828"/>
                </a:solidFill>
                <a:latin typeface="Calibri"/>
              </a:rPr>
              <a:t>UAT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461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A4A5A"/>
                </a:solidFill>
                <a:latin typeface="Calibri"/>
              </a:rPr>
              <a:t>is where most regulatory
gaps are discovered —
the most expensive point to fix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600200"/>
            <a:ext cx="27432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1600200"/>
            <a:ext cx="2743200" cy="73152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7830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02828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324612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A4A5A"/>
                </a:solidFill>
                <a:latin typeface="Calibri"/>
              </a:rPr>
              <a:t>structured Go/No-Go
gates before release —
decisions made informally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B82"/>
                </a:solidFill>
                <a:latin typeface="Calibri"/>
              </a:rPr>
              <a:t>These are not edge cases — they are the current baseline for FCA-regulated Salesforce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We built an AI pipeline that QE-reviews every story — automatically, end to 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DDEE"/>
                </a:solidFill>
                <a:latin typeface="Calibri"/>
              </a:rPr>
              <a:t>53 specialised agents cover every QE discipline across 4 phases.
Stories are checked, documented, and FCA-validated before a single line of code is written.
Every decision is logged in an immutable audit ledger — no manual effort required per sprint.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17520"/>
            <a:ext cx="1722119" cy="16002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127248"/>
            <a:ext cx="1539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  <a:latin typeface="Calibri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23360"/>
            <a:ext cx="1539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AI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9632" y="3017520"/>
            <a:ext cx="1722119" cy="16002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1072" y="3127248"/>
            <a:ext cx="1539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1072" y="4023360"/>
            <a:ext cx="1539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Delivery Phases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6343" y="3017520"/>
            <a:ext cx="1722119" cy="16002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7783" y="3127248"/>
            <a:ext cx="1539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7783" y="4023360"/>
            <a:ext cx="1539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Quality Gates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5" y="3017520"/>
            <a:ext cx="1722119" cy="16002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5" y="3127248"/>
            <a:ext cx="1539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  <a:latin typeface="Calibri"/>
              </a:rPr>
              <a:t>53 / 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5" y="4023360"/>
            <a:ext cx="1539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Agents Validated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9767" y="3017520"/>
            <a:ext cx="1722119" cy="16002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1207" y="3127248"/>
            <a:ext cx="1539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  <a:latin typeface="Calibri"/>
              </a:rPr>
              <a:t>1,065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1207" y="4023360"/>
            <a:ext cx="1539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Automated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36479" y="3017520"/>
            <a:ext cx="1722119" cy="16002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7919" y="3127248"/>
            <a:ext cx="1539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D8"/>
                </a:solidFill>
                <a:latin typeface="Calibri"/>
              </a:rPr>
              <a:t>&lt; 10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7919" y="4023360"/>
            <a:ext cx="15392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Per 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88AA"/>
                </a:solidFill>
                <a:latin typeface="Calibri"/>
              </a:rPr>
              <a:t>Validated on FSC-2417 (HIGH-FCA, COBS 9.2 Suitability Assessment)  ·  Avg confidence 75.1%  ·  Total pipeline runtime 375 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Four phases, 12 gates — a story cannot advance without passing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65176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36192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2024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Agents 1–9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67128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2286000"/>
            <a:ext cx="20116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0428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FCA Classify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816352"/>
            <a:ext cx="20116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83464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Consumer Duty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3346704"/>
            <a:ext cx="20116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3649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BDD Acceptance Criteria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3877056"/>
            <a:ext cx="20116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9534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Risk Register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4407408"/>
            <a:ext cx="20116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42569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Test Design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532120"/>
            <a:ext cx="228600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G1–G4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4096" y="32461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9272" y="1508760"/>
            <a:ext cx="2651760" cy="658368"/>
          </a:xfrm>
          <a:prstGeom prst="rect">
            <a:avLst/>
          </a:prstGeom>
          <a:solidFill>
            <a:srgbClr val="02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1536192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192024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Agents 10–23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9272" y="2167128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83864" y="2286000"/>
            <a:ext cx="201168" cy="292608"/>
          </a:xfrm>
          <a:prstGeom prst="rect">
            <a:avLst/>
          </a:prstGeom>
          <a:solidFill>
            <a:srgbClr val="02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230428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AC Compliance Check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83864" y="2816352"/>
            <a:ext cx="201168" cy="292608"/>
          </a:xfrm>
          <a:prstGeom prst="rect">
            <a:avLst/>
          </a:prstGeom>
          <a:solidFill>
            <a:srgbClr val="02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283464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Apex Coverage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83864" y="3346704"/>
            <a:ext cx="201168" cy="292608"/>
          </a:xfrm>
          <a:prstGeom prst="rect">
            <a:avLst/>
          </a:prstGeom>
          <a:solidFill>
            <a:srgbClr val="02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33649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Security Scan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3864" y="3877056"/>
            <a:ext cx="201168" cy="292608"/>
          </a:xfrm>
          <a:prstGeom prst="rect">
            <a:avLst/>
          </a:prstGeom>
          <a:solidFill>
            <a:srgbClr val="02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389534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BDD Gherkin Files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83864" y="4407408"/>
            <a:ext cx="201168" cy="292608"/>
          </a:xfrm>
          <a:prstGeom prst="rect">
            <a:avLst/>
          </a:prstGeom>
          <a:solidFill>
            <a:srgbClr val="02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94760" y="442569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Test Data Architecture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2152" y="5532120"/>
            <a:ext cx="2286000" cy="256032"/>
          </a:xfrm>
          <a:prstGeom prst="rect">
            <a:avLst/>
          </a:prstGeom>
          <a:solidFill>
            <a:srgbClr val="027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2152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G5–G7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07607" y="32461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  <a:latin typeface="Calibri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72784" y="1508760"/>
            <a:ext cx="2651760" cy="658368"/>
          </a:xfrm>
          <a:prstGeom prst="rect">
            <a:avLst/>
          </a:prstGeom>
          <a:solidFill>
            <a:srgbClr val="015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1536192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192024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Agents 24–38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2784" y="2167128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7376" y="2286000"/>
            <a:ext cx="201168" cy="292608"/>
          </a:xfrm>
          <a:prstGeom prst="rect">
            <a:avLst/>
          </a:prstGeom>
          <a:solidFill>
            <a:srgbClr val="015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48272" y="230428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CRT &amp; UAT Scenarios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816352"/>
            <a:ext cx="201168" cy="292608"/>
          </a:xfrm>
          <a:prstGeom prst="rect">
            <a:avLst/>
          </a:prstGeom>
          <a:solidFill>
            <a:srgbClr val="015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48272" y="283464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FCA Regulatory Tests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3346704"/>
            <a:ext cx="201168" cy="292608"/>
          </a:xfrm>
          <a:prstGeom prst="rect">
            <a:avLst/>
          </a:prstGeom>
          <a:solidFill>
            <a:srgbClr val="015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48272" y="33649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Defect Triage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877056"/>
            <a:ext cx="201168" cy="292608"/>
          </a:xfrm>
          <a:prstGeom prst="rect">
            <a:avLst/>
          </a:prstGeom>
          <a:solidFill>
            <a:srgbClr val="015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48272" y="389534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Root Cause Analysis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37376" y="4407408"/>
            <a:ext cx="201168" cy="292608"/>
          </a:xfrm>
          <a:prstGeom prst="rect">
            <a:avLst/>
          </a:prstGeom>
          <a:solidFill>
            <a:srgbClr val="015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48272" y="442569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Regression Risk Score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55664" y="5532120"/>
            <a:ext cx="2286000" cy="256032"/>
          </a:xfrm>
          <a:prstGeom prst="rect">
            <a:avLst/>
          </a:prstGeom>
          <a:solidFill>
            <a:srgbClr val="015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55664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G8–G10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19" y="324612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  <a:latin typeface="Calibri"/>
              </a:rPr>
              <a:t>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26296" y="1508760"/>
            <a:ext cx="2651760" cy="65836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36024" y="1536192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36024" y="1920240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Agents 39–50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26296" y="2167128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90888" y="2286000"/>
            <a:ext cx="201168" cy="29260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01784" y="2304288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Go/No-Go Coordinator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90888" y="2816352"/>
            <a:ext cx="201168" cy="29260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01784" y="283464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Change Set Integrity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90888" y="3346704"/>
            <a:ext cx="201168" cy="29260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01784" y="336499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Dry-Run Validation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90888" y="3877056"/>
            <a:ext cx="201168" cy="29260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01784" y="389534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FCA Evidence Pack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90888" y="4407408"/>
            <a:ext cx="201168" cy="29260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01784" y="442569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A3A"/>
                </a:solidFill>
                <a:latin typeface="Calibri"/>
              </a:rPr>
              <a:t>Production Validation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09176" y="5532120"/>
            <a:ext cx="2286000" cy="25603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09176" y="5541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G11–G12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B82"/>
                </a:solidFill>
                <a:latin typeface="Calibri"/>
              </a:rPr>
              <a:t>Each gate is fail-closed: stories are blocked from advancing, not merely warned.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97864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From vague stories to FCA-compliant, BDD-tested, audit-ready releases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502920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57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✗  Without the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371600"/>
            <a:ext cx="5486400" cy="502920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417320"/>
            <a:ext cx="5257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✓  With FSC QE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371600"/>
            <a:ext cx="320040" cy="50292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56816"/>
            <a:ext cx="822960" cy="713232"/>
          </a:xfrm>
          <a:prstGeom prst="rect">
            <a:avLst/>
          </a:prstGeom>
          <a:solidFill>
            <a:srgbClr val="E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18541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7396"/>
                </a:solidFill>
                <a:latin typeface="Calibri"/>
              </a:rPr>
              <a:t>Refinement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956816"/>
            <a:ext cx="4663440" cy="713232"/>
          </a:xfrm>
          <a:prstGeom prst="rect">
            <a:avLst/>
          </a:prstGeom>
          <a:solidFill>
            <a:srgbClr val="FCECEC"/>
          </a:solidFill>
          <a:ln w="6350">
            <a:solidFill>
              <a:srgbClr val="E8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2048256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2828"/>
                </a:solidFill>
                <a:latin typeface="Calibri"/>
              </a:rPr>
              <a:t>ACs are incomplete, vague, or missing error and FCA 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956816"/>
            <a:ext cx="320040" cy="713232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2121408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56B82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1956816"/>
            <a:ext cx="5458968" cy="713232"/>
          </a:xfrm>
          <a:prstGeom prst="rect">
            <a:avLst/>
          </a:prstGeom>
          <a:solidFill>
            <a:srgbClr val="E4F8EF"/>
          </a:solidFill>
          <a:ln w="6350">
            <a:solidFill>
              <a:srgbClr val="CC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048256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5C"/>
                </a:solidFill>
                <a:latin typeface="Calibri"/>
              </a:rPr>
              <a:t>BDD Given/When/Then ACs auto-generated — happy path, error, edge, and regulatory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06624"/>
            <a:ext cx="822960" cy="713232"/>
          </a:xfrm>
          <a:prstGeom prst="rect">
            <a:avLst/>
          </a:prstGeom>
          <a:solidFill>
            <a:srgbClr val="E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93522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7396"/>
                </a:solidFill>
                <a:latin typeface="Calibri"/>
              </a:rPr>
              <a:t>Refinement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706624"/>
            <a:ext cx="4663440" cy="713232"/>
          </a:xfrm>
          <a:prstGeom prst="rect">
            <a:avLst/>
          </a:prstGeom>
          <a:solidFill>
            <a:srgbClr val="FCECEC"/>
          </a:solidFill>
          <a:ln w="6350">
            <a:solidFill>
              <a:srgbClr val="E8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2798064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2828"/>
                </a:solidFill>
                <a:latin typeface="Calibri"/>
              </a:rPr>
              <a:t>FCA risk depends on analyst memory — inconsistently applied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706624"/>
            <a:ext cx="320040" cy="713232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2871216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56B82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6792" y="2706624"/>
            <a:ext cx="5458968" cy="713232"/>
          </a:xfrm>
          <a:prstGeom prst="rect">
            <a:avLst/>
          </a:prstGeom>
          <a:solidFill>
            <a:srgbClr val="E4F8EF"/>
          </a:solidFill>
          <a:ln w="6350">
            <a:solidFill>
              <a:srgbClr val="CC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798064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5C"/>
                </a:solidFill>
                <a:latin typeface="Calibri"/>
              </a:rPr>
              <a:t>Every story classified HIGH/MEDIUM/LOW; COBS 9.2, Consumer Duty, FG21/1 auto-checked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56432"/>
            <a:ext cx="822960" cy="713232"/>
          </a:xfrm>
          <a:prstGeom prst="rect">
            <a:avLst/>
          </a:prstGeom>
          <a:solidFill>
            <a:srgbClr val="E0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368503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540"/>
                </a:solidFill>
                <a:latin typeface="Calibri"/>
              </a:rPr>
              <a:t>Development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3456432"/>
            <a:ext cx="4663440" cy="713232"/>
          </a:xfrm>
          <a:prstGeom prst="rect">
            <a:avLst/>
          </a:prstGeom>
          <a:solidFill>
            <a:srgbClr val="FCECEC"/>
          </a:solidFill>
          <a:ln w="6350">
            <a:solidFill>
              <a:srgbClr val="E8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8448" y="3547872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2828"/>
                </a:solidFill>
                <a:latin typeface="Calibri"/>
              </a:rPr>
              <a:t>Apex coverage gaps and security issues caught late in peer review or CI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456432"/>
            <a:ext cx="320040" cy="713232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98464" y="3621024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56B82"/>
                </a:solidFill>
                <a:latin typeface="Calibri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36792" y="3456432"/>
            <a:ext cx="5458968" cy="713232"/>
          </a:xfrm>
          <a:prstGeom prst="rect">
            <a:avLst/>
          </a:prstGeom>
          <a:solidFill>
            <a:srgbClr val="E4F8EF"/>
          </a:solidFill>
          <a:ln w="6350">
            <a:solidFill>
              <a:srgbClr val="CC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547872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5C"/>
                </a:solidFill>
                <a:latin typeface="Calibri"/>
              </a:rPr>
              <a:t>Coverage analysis, PMD security scan, and code quality review run automatically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206240"/>
            <a:ext cx="822960" cy="713232"/>
          </a:xfrm>
          <a:prstGeom prst="rect">
            <a:avLst/>
          </a:prstGeom>
          <a:solidFill>
            <a:srgbClr val="E0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443484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6540"/>
                </a:solidFill>
                <a:latin typeface="Calibri"/>
              </a:rPr>
              <a:t>Development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4206240"/>
            <a:ext cx="4663440" cy="713232"/>
          </a:xfrm>
          <a:prstGeom prst="rect">
            <a:avLst/>
          </a:prstGeom>
          <a:solidFill>
            <a:srgbClr val="FCECEC"/>
          </a:solidFill>
          <a:ln w="6350">
            <a:solidFill>
              <a:srgbClr val="E8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98448" y="4297680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2828"/>
                </a:solidFill>
                <a:latin typeface="Calibri"/>
              </a:rPr>
              <a:t>QEs manually write Gherkin files and test data scripts per story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4206240"/>
            <a:ext cx="320040" cy="713232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4370832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56B82"/>
                </a:solidFill>
                <a:latin typeface="Calibri"/>
              </a:rPr>
              <a:t>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36792" y="4206240"/>
            <a:ext cx="5458968" cy="713232"/>
          </a:xfrm>
          <a:prstGeom prst="rect">
            <a:avLst/>
          </a:prstGeom>
          <a:solidFill>
            <a:srgbClr val="E4F8EF"/>
          </a:solidFill>
          <a:ln w="6350">
            <a:solidFill>
              <a:srgbClr val="CC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297680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5C"/>
                </a:solidFill>
                <a:latin typeface="Calibri"/>
              </a:rPr>
              <a:t>BDD .feature files and test data architecture generated and linked to ACs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956048"/>
            <a:ext cx="822960" cy="713232"/>
          </a:xfrm>
          <a:prstGeom prst="rect">
            <a:avLst/>
          </a:prstGeom>
          <a:solidFill>
            <a:srgbClr val="FD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518464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05000"/>
                </a:solidFill>
                <a:latin typeface="Calibri"/>
              </a:rPr>
              <a:t>Testing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4956048"/>
            <a:ext cx="4663440" cy="713232"/>
          </a:xfrm>
          <a:prstGeom prst="rect">
            <a:avLst/>
          </a:prstGeom>
          <a:solidFill>
            <a:srgbClr val="FCECEC"/>
          </a:solidFill>
          <a:ln w="6350">
            <a:solidFill>
              <a:srgbClr val="E8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98448" y="5047488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2828"/>
                </a:solidFill>
                <a:latin typeface="Calibri"/>
              </a:rPr>
              <a:t>CRT and UAT test cases designed ad hoc — coverage gaps found during execution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4956048"/>
            <a:ext cx="320040" cy="713232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98464" y="512064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56B82"/>
                </a:solidFill>
                <a:latin typeface="Calibri"/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36792" y="4956048"/>
            <a:ext cx="5458968" cy="713232"/>
          </a:xfrm>
          <a:prstGeom prst="rect">
            <a:avLst/>
          </a:prstGeom>
          <a:solidFill>
            <a:srgbClr val="E4F8EF"/>
          </a:solidFill>
          <a:ln w="6350">
            <a:solidFill>
              <a:srgbClr val="CC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5047488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5C"/>
                </a:solidFill>
                <a:latin typeface="Calibri"/>
              </a:rPr>
              <a:t>CRT, UAT, FCA regulatory, and regression scenarios structured before test execution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705856"/>
            <a:ext cx="822960" cy="713232"/>
          </a:xfrm>
          <a:prstGeom prst="rect">
            <a:avLst/>
          </a:prstGeom>
          <a:solidFill>
            <a:srgbClr val="F0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593445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02080"/>
                </a:solidFill>
                <a:latin typeface="Calibri"/>
              </a:rPr>
              <a:t>Release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" y="5705856"/>
            <a:ext cx="4663440" cy="713232"/>
          </a:xfrm>
          <a:prstGeom prst="rect">
            <a:avLst/>
          </a:prstGeom>
          <a:solidFill>
            <a:srgbClr val="FCECEC"/>
          </a:solidFill>
          <a:ln w="6350">
            <a:solidFill>
              <a:srgbClr val="E8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98448" y="5797296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2828"/>
                </a:solidFill>
                <a:latin typeface="Calibri"/>
              </a:rPr>
              <a:t>Go/No-Go is informal — no gate; FCA evidence assembled manually under pressure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5705856"/>
            <a:ext cx="320040" cy="713232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98464" y="5870448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56B82"/>
                </a:solidFill>
                <a:latin typeface="Calibri"/>
              </a:rPr>
              <a:t>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5705856"/>
            <a:ext cx="5458968" cy="713232"/>
          </a:xfrm>
          <a:prstGeom prst="rect">
            <a:avLst/>
          </a:prstGeom>
          <a:solidFill>
            <a:srgbClr val="E4F8EF"/>
          </a:solidFill>
          <a:ln w="6350">
            <a:solidFill>
              <a:srgbClr val="CC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5797296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5C"/>
                </a:solidFill>
                <a:latin typeface="Calibri"/>
              </a:rPr>
              <a:t>Automated Go/No-Go gate; FCA Evidence Pack auto-assembled; release blocked if incomplete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FCA compliance is checked on every story — not hoped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11155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44752"/>
            <a:ext cx="3657600" cy="516636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44752"/>
            <a:ext cx="3657600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828"/>
                </a:solidFill>
                <a:latin typeface="Calibri"/>
              </a:rPr>
              <a:t>COBS 9.2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4825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Suitability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Agent 03 detects suitability triggers and classifies story as HIGH-FCA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Agent 05 generates mandatory COBS 9.2 regulatory AC 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056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Agent 45 blocks Go/No-Go if COBS 9.2 evidence is missing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48640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Acknowledgement audit record created with adviser ID and timestamp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444752"/>
            <a:ext cx="3657600" cy="516636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444752"/>
            <a:ext cx="3657600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1490472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828"/>
                </a:solidFill>
                <a:latin typeface="Calibri"/>
              </a:rPr>
              <a:t>Consumer Duty
PS22/9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204825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Outcomes 1–4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46888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46888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Agent 04 maps all four Consumer Duty outcomes to every 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347472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474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47472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Vulnerable customer pathways (FG21/1 §4.3) flagged and test-covered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48056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48056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Agent 30 generates dedicated FCA regulatory test scenarios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548640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5486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48640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Agent 44 assembles Consumer Duty evidence per story automatically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444752"/>
            <a:ext cx="3657600" cy="516636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1444752"/>
            <a:ext cx="3657600" cy="8961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1490472"/>
            <a:ext cx="3337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828"/>
                </a:solidFill>
                <a:latin typeface="Calibri"/>
              </a:rPr>
              <a:t>Audit Trail
SYSC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204825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Immutable Ledger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246888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246888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Every agent decision written to an append-only PostgreSQL ledger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347472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3474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47472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Records are timestamped, signed, and cannot be modified or deleted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448056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48056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Full evidence trail from refinement to release — one query, FCA-ready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548640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5486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828"/>
                </a:solidFill>
                <a:latin typeface="Calibri"/>
              </a:rPr>
              <a:t>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486400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  <a:latin typeface="Calibri"/>
              </a:rPr>
              <a:t>No manual document assembly before internal audit or FCA review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629400"/>
            <a:ext cx="11247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Proven.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64592"/>
            <a:ext cx="4114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B4D8"/>
                </a:solidFill>
                <a:latin typeface="Calibri"/>
              </a:rPr>
              <a:t>Measured.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64592"/>
            <a:ext cx="4114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11155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1228" y="1371600"/>
            <a:ext cx="3474720" cy="22402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1228" y="1371600"/>
            <a:ext cx="3474720" cy="54864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" y="153619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965C"/>
                </a:solidFill>
                <a:latin typeface="Calibri"/>
              </a:rPr>
              <a:t>53 / 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" y="283464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Agents passed
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7116" y="1371600"/>
            <a:ext cx="3474720" cy="22402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7116" y="137160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9996" y="153619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B4D8"/>
                </a:solidFill>
                <a:latin typeface="Calibri"/>
              </a:rPr>
              <a:t>1,065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9996" y="283464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Automated tests
all passing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3004" y="1371600"/>
            <a:ext cx="3474720" cy="22402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3004" y="1371600"/>
            <a:ext cx="34747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5883" y="1536192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75.1%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5883" y="2834640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Average agent
confidence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" y="3776472"/>
            <a:ext cx="3474720" cy="22402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" y="3776472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" y="3941064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B4D8"/>
                </a:solidFill>
                <a:latin typeface="Calibri"/>
              </a:rPr>
              <a:t>&lt; 10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" y="5239512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Full pipeline
per 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7116" y="3776472"/>
            <a:ext cx="3474720" cy="22402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7116" y="3776472"/>
            <a:ext cx="34747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9996" y="3941064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375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9996" y="5239512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Validated runtime
on FSC-2417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3004" y="3776472"/>
            <a:ext cx="3474720" cy="22402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33004" y="3776472"/>
            <a:ext cx="3474720" cy="54864"/>
          </a:xfrm>
          <a:prstGeom prst="rect">
            <a:avLst/>
          </a:prstGeom>
          <a:solidFill>
            <a:srgbClr val="E0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5883" y="3941064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08800"/>
                </a:solidFill>
                <a:latin typeface="Calibri"/>
              </a:rP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5883" y="5239512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Calibri"/>
              </a:rPr>
              <a:t>Production gaps
documented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1,500 senior QE hours per year — redirected to high-value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85800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6858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828"/>
                </a:solidFill>
                <a:latin typeface="Calibri"/>
              </a:rPr>
              <a:t>Conservative ROI Calculation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4028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5A"/>
                </a:solidFill>
                <a:latin typeface="Calibri"/>
              </a:rPr>
              <a:t>stories per sprint requiring QE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9864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Calibri"/>
              </a:rPr>
              <a:t>× 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9864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5A"/>
                </a:solidFill>
                <a:latin typeface="Calibri"/>
              </a:rPr>
              <a:t>hours of senior QE time saved per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57015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Calibri"/>
              </a:rPr>
              <a:t>×  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557015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A4A5A"/>
                </a:solidFill>
                <a:latin typeface="Calibri"/>
              </a:rPr>
              <a:t>sprints per year (2-week cadence)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69663"/>
            <a:ext cx="6492240" cy="594360"/>
          </a:xfrm>
          <a:prstGeom prst="rect">
            <a:avLst/>
          </a:prstGeom>
          <a:solidFill>
            <a:srgbClr val="E4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61103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5C"/>
                </a:solidFill>
                <a:latin typeface="Calibri"/>
              </a:rPr>
              <a:t>=  1,500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261103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5C"/>
                </a:solidFill>
                <a:latin typeface="Calibri"/>
              </a:rPr>
              <a:t>senior QE hours per year freed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4864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6B82"/>
                </a:solidFill>
                <a:latin typeface="Calibri"/>
              </a:rPr>
              <a:t>* Based on 3 hrs manual effort per story for AC writing, FCA review,
  test planning, and documentation. Blended rate not included.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952" y="1508760"/>
            <a:ext cx="4206240" cy="50749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16642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Additional 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2" y="2194560"/>
            <a:ext cx="201168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22311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Defect Prevention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256032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CCDD"/>
                </a:solidFill>
                <a:latin typeface="Calibri"/>
              </a:rPr>
              <a:t>Risks raised at refinement — not in UAT. Earlier fix = lower cost.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54112" y="3200400"/>
            <a:ext cx="201168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32369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FCA Audit Prep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35661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CCDD"/>
                </a:solidFill>
                <a:latin typeface="Calibri"/>
              </a:rPr>
              <a:t>Evidence pack auto-assembled. No sprint dedicated to audit prep.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54112" y="4206240"/>
            <a:ext cx="201168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42428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Delivery Consistency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4572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CCDD"/>
                </a:solidFill>
                <a:latin typeface="Calibri"/>
              </a:rPr>
              <a:t>Same QE rigour applied to every story, every sprint, every team.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54112" y="5212079"/>
            <a:ext cx="201168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524865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Regulatory Protection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5577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CCDD"/>
                </a:solidFill>
                <a:latin typeface="Calibri"/>
              </a:rPr>
              <a:t>Systematic FCA checks reduce tail risk of material FCA findings.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5024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Built, tested, and validated — 18 gaps remain before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394960" cy="457200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✓ 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39696"/>
            <a:ext cx="256032" cy="256032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396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30551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53/53 agents validated on FSC-2417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15184"/>
            <a:ext cx="256032" cy="256032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151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606039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1,065 automated unit tests — all passing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90672"/>
            <a:ext cx="256032" cy="256032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906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081527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12 quality gates implemented and verified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256032" cy="256032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661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557015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FCA compliance checks validated for HIGH-FCA 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41647"/>
            <a:ext cx="256032" cy="256032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4164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032503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BDD AC output includes test_category classification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17135"/>
            <a:ext cx="256032" cy="256032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517135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507991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HTML validation report generated per 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92623"/>
            <a:ext cx="256032" cy="256032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9262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983479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Immutable audit ledger schema defined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508760"/>
            <a:ext cx="539496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508760"/>
            <a:ext cx="5394960" cy="457200"/>
          </a:xfrm>
          <a:prstGeom prst="rect">
            <a:avLst/>
          </a:prstGeom>
          <a:solidFill>
            <a:srgbClr val="E0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⚠  Pending for Production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2139696"/>
            <a:ext cx="256032" cy="256032"/>
          </a:xfrm>
          <a:prstGeom prst="rect">
            <a:avLst/>
          </a:prstGeom>
          <a:solidFill>
            <a:srgbClr val="E0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1396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2130551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PostgreSQL production database provisioned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2615184"/>
            <a:ext cx="256032" cy="256032"/>
          </a:xfrm>
          <a:prstGeom prst="rect">
            <a:avLst/>
          </a:prstGeom>
          <a:solidFill>
            <a:srgbClr val="E0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6151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2606039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Anthropic API key in production secrets manager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3090672"/>
            <a:ext cx="256032" cy="256032"/>
          </a:xfrm>
          <a:prstGeom prst="rect">
            <a:avLst/>
          </a:prstGeom>
          <a:solidFill>
            <a:srgbClr val="E0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09067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2" y="3081527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Jira production OAuth credentials configured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3566160"/>
            <a:ext cx="256032" cy="256032"/>
          </a:xfrm>
          <a:prstGeom prst="rect">
            <a:avLst/>
          </a:prstGeom>
          <a:solidFill>
            <a:srgbClr val="E0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35661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3557015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Copado webhook registered for CI/CD integration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4041647"/>
            <a:ext cx="256032" cy="256032"/>
          </a:xfrm>
          <a:prstGeom prst="rect">
            <a:avLst/>
          </a:prstGeom>
          <a:solidFill>
            <a:srgbClr val="E0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404164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1152" y="4032503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Compliance sign-off on FCA Evidence Pack format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4517135"/>
            <a:ext cx="256032" cy="256032"/>
          </a:xfrm>
          <a:prstGeom prst="rect">
            <a:avLst/>
          </a:prstGeom>
          <a:solidFill>
            <a:srgbClr val="E0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517135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31152" y="4507991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3A"/>
                </a:solidFill>
                <a:latin typeface="Calibri"/>
              </a:rPr>
              <a:t>PRODUCTION_READINESS.md: 18 gaps with owners &amp; ETAs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1508760"/>
            <a:ext cx="91440" cy="5074920"/>
          </a:xfrm>
          <a:prstGeom prst="rect">
            <a:avLst/>
          </a:prstGeom>
          <a:solidFill>
            <a:srgbClr val="CC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Three actions to go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6916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58368" cy="1691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8470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A182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389888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Approve Production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920239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›  Commission infrastructure provisioning — PostgreSQL, secrets manager, Jira OAuth, Copado webhook.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267711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›  Assign a delivery lead to own the 18-gap closure plan in PRODUCTION_READINESS.md.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615183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›  Target: framework live before the next quarter's sprint cycle begins.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27248"/>
            <a:ext cx="11247120" cy="16916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27248"/>
            <a:ext cx="658368" cy="1691640"/>
          </a:xfrm>
          <a:prstGeom prst="rect">
            <a:avLst/>
          </a:prstGeom>
          <a:solidFill>
            <a:srgbClr val="0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369417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A182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23697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Run a Pilot Sprint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76732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›  Select 3–5 stories from the next sprint backlog.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114800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›  Run the framework in parallel with the existing manual QE process — no disruption to delivery.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462272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›  Measure: AC quality delta, FCA scenario coverage rate, and hours saved.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74336"/>
            <a:ext cx="11247120" cy="16916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974336"/>
            <a:ext cx="658368" cy="1691640"/>
          </a:xfrm>
          <a:prstGeom prst="rect">
            <a:avLst/>
          </a:prstGeom>
          <a:solidFill>
            <a:srgbClr val="E0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554126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A1828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508406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Brief Compliance on Evidence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5614416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›  Share the auto-generated FCA Evidence Pack for FSC-2417 with the Compliance team.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5961888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›  Confirm the audit trail format meets SYSC and Consumer Duty documentation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6309359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›  Obtain sign-off that automated evidence packs are acceptable for FCA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379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B82"/>
                </a:solidFill>
                <a:latin typeface="Calibri"/>
              </a:rPr>
              <a:t>FSC Agentic QE Framework  ·  Senior Leadership Briefing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